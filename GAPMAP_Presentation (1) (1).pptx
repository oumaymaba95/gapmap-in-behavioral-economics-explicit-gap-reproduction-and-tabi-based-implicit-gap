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364D4E-6476-3C62-43B6-0E26078856B3}" v="38" dt="2026-04-26T22:52:10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Aoun, Oumayma" userId="S::benaouno1@gator.uhd.edu::9398eb96-4134-48bf-9b69-e4ae7ae5a848" providerId="AD" clId="Web-{DC364D4E-6476-3C62-43B6-0E26078856B3}"/>
    <pc:docChg chg="modSld">
      <pc:chgData name="Ben Aoun, Oumayma" userId="S::benaouno1@gator.uhd.edu::9398eb96-4134-48bf-9b69-e4ae7ae5a848" providerId="AD" clId="Web-{DC364D4E-6476-3C62-43B6-0E26078856B3}" dt="2026-04-26T22:52:10.355" v="37" actId="20577"/>
      <pc:docMkLst>
        <pc:docMk/>
      </pc:docMkLst>
      <pc:sldChg chg="modSp">
        <pc:chgData name="Ben Aoun, Oumayma" userId="S::benaouno1@gator.uhd.edu::9398eb96-4134-48bf-9b69-e4ae7ae5a848" providerId="AD" clId="Web-{DC364D4E-6476-3C62-43B6-0E26078856B3}" dt="2026-04-26T22:49:46.777" v="5" actId="20577"/>
        <pc:sldMkLst>
          <pc:docMk/>
          <pc:sldMk cId="0" sldId="257"/>
        </pc:sldMkLst>
        <pc:spChg chg="mod">
          <ac:chgData name="Ben Aoun, Oumayma" userId="S::benaouno1@gator.uhd.edu::9398eb96-4134-48bf-9b69-e4ae7ae5a848" providerId="AD" clId="Web-{DC364D4E-6476-3C62-43B6-0E26078856B3}" dt="2026-04-26T22:49:46.777" v="5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Ben Aoun, Oumayma" userId="S::benaouno1@gator.uhd.edu::9398eb96-4134-48bf-9b69-e4ae7ae5a848" providerId="AD" clId="Web-{DC364D4E-6476-3C62-43B6-0E26078856B3}" dt="2026-04-26T22:50:06.933" v="11" actId="20577"/>
        <pc:sldMkLst>
          <pc:docMk/>
          <pc:sldMk cId="0" sldId="258"/>
        </pc:sldMkLst>
        <pc:spChg chg="mod">
          <ac:chgData name="Ben Aoun, Oumayma" userId="S::benaouno1@gator.uhd.edu::9398eb96-4134-48bf-9b69-e4ae7ae5a848" providerId="AD" clId="Web-{DC364D4E-6476-3C62-43B6-0E26078856B3}" dt="2026-04-26T22:50:06.933" v="11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Ben Aoun, Oumayma" userId="S::benaouno1@gator.uhd.edu::9398eb96-4134-48bf-9b69-e4ae7ae5a848" providerId="AD" clId="Web-{DC364D4E-6476-3C62-43B6-0E26078856B3}" dt="2026-04-26T22:50:19.823" v="16" actId="20577"/>
        <pc:sldMkLst>
          <pc:docMk/>
          <pc:sldMk cId="0" sldId="259"/>
        </pc:sldMkLst>
        <pc:spChg chg="mod">
          <ac:chgData name="Ben Aoun, Oumayma" userId="S::benaouno1@gator.uhd.edu::9398eb96-4134-48bf-9b69-e4ae7ae5a848" providerId="AD" clId="Web-{DC364D4E-6476-3C62-43B6-0E26078856B3}" dt="2026-04-26T22:50:19.823" v="1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Ben Aoun, Oumayma" userId="S::benaouno1@gator.uhd.edu::9398eb96-4134-48bf-9b69-e4ae7ae5a848" providerId="AD" clId="Web-{DC364D4E-6476-3C62-43B6-0E26078856B3}" dt="2026-04-26T22:50:33.730" v="21" actId="20577"/>
        <pc:sldMkLst>
          <pc:docMk/>
          <pc:sldMk cId="0" sldId="260"/>
        </pc:sldMkLst>
        <pc:spChg chg="mod">
          <ac:chgData name="Ben Aoun, Oumayma" userId="S::benaouno1@gator.uhd.edu::9398eb96-4134-48bf-9b69-e4ae7ae5a848" providerId="AD" clId="Web-{DC364D4E-6476-3C62-43B6-0E26078856B3}" dt="2026-04-26T22:50:33.730" v="2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Ben Aoun, Oumayma" userId="S::benaouno1@gator.uhd.edu::9398eb96-4134-48bf-9b69-e4ae7ae5a848" providerId="AD" clId="Web-{DC364D4E-6476-3C62-43B6-0E26078856B3}" dt="2026-04-26T22:51:27.480" v="25" actId="20577"/>
        <pc:sldMkLst>
          <pc:docMk/>
          <pc:sldMk cId="0" sldId="263"/>
        </pc:sldMkLst>
        <pc:spChg chg="mod">
          <ac:chgData name="Ben Aoun, Oumayma" userId="S::benaouno1@gator.uhd.edu::9398eb96-4134-48bf-9b69-e4ae7ae5a848" providerId="AD" clId="Web-{DC364D4E-6476-3C62-43B6-0E26078856B3}" dt="2026-04-26T22:51:27.480" v="25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Ben Aoun, Oumayma" userId="S::benaouno1@gator.uhd.edu::9398eb96-4134-48bf-9b69-e4ae7ae5a848" providerId="AD" clId="Web-{DC364D4E-6476-3C62-43B6-0E26078856B3}" dt="2026-04-26T22:51:41.089" v="31" actId="20577"/>
        <pc:sldMkLst>
          <pc:docMk/>
          <pc:sldMk cId="0" sldId="264"/>
        </pc:sldMkLst>
        <pc:spChg chg="mod">
          <ac:chgData name="Ben Aoun, Oumayma" userId="S::benaouno1@gator.uhd.edu::9398eb96-4134-48bf-9b69-e4ae7ae5a848" providerId="AD" clId="Web-{DC364D4E-6476-3C62-43B6-0E26078856B3}" dt="2026-04-26T22:51:41.089" v="31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Ben Aoun, Oumayma" userId="S::benaouno1@gator.uhd.edu::9398eb96-4134-48bf-9b69-e4ae7ae5a848" providerId="AD" clId="Web-{DC364D4E-6476-3C62-43B6-0E26078856B3}" dt="2026-04-26T22:51:56.870" v="35" actId="20577"/>
        <pc:sldMkLst>
          <pc:docMk/>
          <pc:sldMk cId="0" sldId="265"/>
        </pc:sldMkLst>
        <pc:spChg chg="mod">
          <ac:chgData name="Ben Aoun, Oumayma" userId="S::benaouno1@gator.uhd.edu::9398eb96-4134-48bf-9b69-e4ae7ae5a848" providerId="AD" clId="Web-{DC364D4E-6476-3C62-43B6-0E26078856B3}" dt="2026-04-26T22:51:56.870" v="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Ben Aoun, Oumayma" userId="S::benaouno1@gator.uhd.edu::9398eb96-4134-48bf-9b69-e4ae7ae5a848" providerId="AD" clId="Web-{DC364D4E-6476-3C62-43B6-0E26078856B3}" dt="2026-04-26T22:52:10.355" v="37" actId="20577"/>
        <pc:sldMkLst>
          <pc:docMk/>
          <pc:sldMk cId="0" sldId="266"/>
        </pc:sldMkLst>
        <pc:spChg chg="mod">
          <ac:chgData name="Ben Aoun, Oumayma" userId="S::benaouno1@gator.uhd.edu::9398eb96-4134-48bf-9b69-e4ae7ae5a848" providerId="AD" clId="Web-{DC364D4E-6476-3C62-43B6-0E26078856B3}" dt="2026-04-26T22:52:10.355" v="37" actId="20577"/>
          <ac:spMkLst>
            <pc:docMk/>
            <pc:sldMk cId="0" sldId="266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933C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93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39-4614-8DA2-DEB63A4925A5}"/>
              </c:ext>
            </c:extLst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39-4614-8DA2-DEB63A4925A5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39-4614-8DA2-DEB63A4925A5}"/>
              </c:ext>
            </c:extLst>
          </c:dPt>
          <c:dPt>
            <c:idx val="3"/>
            <c:invertIfNegative val="0"/>
            <c:bubble3D val="0"/>
            <c:spPr>
              <a:solidFill>
                <a:srgbClr val="5A64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39-4614-8DA2-DEB63A4925A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Cue-phrase
(no LLM)</c:v>
                </c:pt>
                <c:pt idx="1">
                  <c:v>GPT-4o</c:v>
                </c:pt>
                <c:pt idx="2">
                  <c:v>GPT-4o-mini</c:v>
                </c:pt>
                <c:pt idx="3">
                  <c:v>Llama 3.2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0.90910000000000002</c:v>
                </c:pt>
                <c:pt idx="1">
                  <c:v>0.88219999999999998</c:v>
                </c:pt>
                <c:pt idx="2">
                  <c:v>0.69710000000000005</c:v>
                </c:pt>
                <c:pt idx="3">
                  <c:v>0.64259999999999995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C39-4614-8DA2-DEB63A4925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False-positive count (out of 93 sections)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positives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14-46DB-A932-DAF1781554E3}"/>
              </c:ext>
            </c:extLst>
          </c:dPt>
          <c:dPt>
            <c:idx val="1"/>
            <c:invertIfNegative val="0"/>
            <c:bubble3D val="0"/>
            <c:spPr>
              <a:solidFill>
                <a:srgbClr val="F2641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14-46DB-A932-DAF1781554E3}"/>
              </c:ext>
            </c:extLst>
          </c:dPt>
          <c:dPt>
            <c:idx val="2"/>
            <c:invertIfNegative val="0"/>
            <c:bubble3D val="0"/>
            <c:spPr>
              <a:solidFill>
                <a:srgbClr val="F2641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14-46DB-A932-DAF1781554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GPT-4o</c:v>
                </c:pt>
                <c:pt idx="1">
                  <c:v>GPT-4o-mini</c:v>
                </c:pt>
                <c:pt idx="2">
                  <c:v>Llama 3.2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148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14-46DB-A932-DAF1781554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 (JBEE, behavioral econ)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GPT-4o</c:v>
                </c:pt>
                <c:pt idx="1">
                  <c:v>GPT-4o-mini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0.88219999999999998</c:v>
                </c:pt>
                <c:pt idx="1">
                  <c:v>0.69710000000000005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0B-4DC6-A51E-FC1124002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GAPMAP (policy/biodiversity)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GPT-4o</c:v>
                </c:pt>
                <c:pt idx="1">
                  <c:v>GPT-4o-mini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0.74</c:v>
                </c:pt>
                <c:pt idx="1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0B-4DC6-A51E-FC1124002B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DC603-FFB3-43C9-B058-47A872694193}" type="datetimeFigureOut"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F4718-DBC4-4C3B-A8F0-E6EE2E98FE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0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1680" cy="32004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LLMs Find Knowledge Gaps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Research Papers?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GAPMAP on 107 behavioral-economics papers, with a structured extension for implicit gaps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4864" cy="64008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Oumayma Ben Aoun  •  Chau Tran  •  Elise DeLeon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Knowledge gaps</a:t>
            </a:r>
            <a:endParaRPr lang="en-US" sz="26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gap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7160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state it directly.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"Further research is needed…"</a:t>
            </a:r>
            <a:endParaRPr lang="en-US" sz="11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"Remains unclear…"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4023360" cy="137160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71800"/>
            <a:ext cx="73152" cy="137160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632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has to infer it.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in the methods, sample, or scope that the authors don't state directly.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840480" cy="2971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showed LLMs can map gaps in biomedical text.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approach work in a different field?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papers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the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Behavioral &amp; Experimental Economics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ea typeface="+mn-lt"/>
                <a:cs typeface="+mn-lt"/>
              </a:rPr>
              <a:t>Dataset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papers from one journal — large enough to be representative, small enough to label by hand.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2344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from JBEE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editorials &amp; board pages excluded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417320"/>
            <a:ext cx="2651760" cy="12344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1" name="Shape 9"/>
          <p:cNvSpPr/>
          <p:nvPr/>
        </p:nvSpPr>
        <p:spPr>
          <a:xfrm>
            <a:off x="3264408" y="141732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64408" y="2130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≤1,000 words each, split at sentence boundaries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417320"/>
            <a:ext cx="2651760" cy="12344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071616" y="1417320"/>
            <a:ext cx="2651760" cy="54864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7" name="Text 15"/>
          <p:cNvSpPr/>
          <p:nvPr/>
        </p:nvSpPr>
        <p:spPr>
          <a:xfrm>
            <a:off x="6071616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071616" y="2130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hand-labeled sections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71616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reference set for evaluation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BEHAVIORAL ECONOMICS?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337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was tested on biomedical and policy text. We wanted to test it on </a:t>
            </a:r>
            <a:r>
              <a:rPr lang="en-US" sz="13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field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somewhere with different vocabulary, different writing conventions, different gap signals.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econ papers are also </a:t>
            </a:r>
            <a:r>
              <a:rPr lang="en-US" sz="13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 cue phrases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authors frequently write "further research is needed." That density turns out to matter for our results.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Pipeline 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PDFs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1,367 text sections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(≤1,000 words, split on sentence boundaries)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0233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TRACK  (reproducing GAPMAP)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LLM extraction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GPT-4o · GPT-4o-mini · Llama 3.2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Cue-phrase post-filter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keep only sentences with phrases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like "remains unclear," "further research"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Score with ROUGE-L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 text-overlap score from 0 to 1;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 match counts above 0.55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64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TRACK  (our extension)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Structured prompt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LLM outputs a Claim about a gap,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plus the Grounds &amp; Warrant for it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Logical-validity check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 separate model (RoBERTa) tests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whether Grounds+Warrant support Claim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Keep only validated outputs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842 high-confidence implicit gaps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ea typeface="+mn-lt"/>
                <a:cs typeface="+mn-lt"/>
              </a:rPr>
              <a:t>Results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= a single 0-to-1 measure of extraction quality (higher is better).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4937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80160"/>
            <a:ext cx="3108960" cy="3200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0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0.9091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7607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from cue-phrase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alone — no LLM.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3383280"/>
            <a:ext cx="2743200" cy="0"/>
          </a:xfrm>
          <a:prstGeom prst="line">
            <a:avLst/>
          </a:prstGeom>
          <a:noFill/>
          <a:ln w="12700">
            <a:solidFill>
              <a:srgbClr val="F2641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cue-dense text, the LLMs add little beyond what keyword matching already finds.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results statistically robust?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check, we re-ran the analysis on 1,000 random samples of our 93 sections and recorded the range of scores.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range across 1,000 samples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Cue-phrase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1773936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4755520" y="1755648"/>
            <a:ext cx="424647" cy="73152"/>
          </a:xfrm>
          <a:prstGeom prst="rect">
            <a:avLst/>
          </a:prstGeom>
          <a:solidFill>
            <a:srgbClr val="2E933C"/>
          </a:solidFill>
          <a:ln/>
        </p:spPr>
      </p:sp>
      <p:sp>
        <p:nvSpPr>
          <p:cNvPr id="9" name="Shape 7"/>
          <p:cNvSpPr/>
          <p:nvPr/>
        </p:nvSpPr>
        <p:spPr>
          <a:xfrm>
            <a:off x="4927820" y="1728216"/>
            <a:ext cx="128016" cy="128016"/>
          </a:xfrm>
          <a:prstGeom prst="ellipse">
            <a:avLst/>
          </a:prstGeom>
          <a:solidFill>
            <a:srgbClr val="2E93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892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  [0.85, 0.96]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17320" y="2276856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2269" y="2258568"/>
            <a:ext cx="334213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22052" y="2231136"/>
            <a:ext cx="128016" cy="12801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395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0.882  [0.84, 0.92]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17320" y="2779776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3536625" y="2761488"/>
            <a:ext cx="1415491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4094253" y="2734056"/>
            <a:ext cx="128016" cy="12801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898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0.697  [0.54, 0.90]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17320" y="3282696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93902" y="3264408"/>
            <a:ext cx="519013" cy="73152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24" name="Shape 22"/>
          <p:cNvSpPr/>
          <p:nvPr/>
        </p:nvSpPr>
        <p:spPr>
          <a:xfrm>
            <a:off x="3879964" y="3236976"/>
            <a:ext cx="128016" cy="128016"/>
          </a:xfrm>
          <a:prstGeom prst="ellipse">
            <a:avLst/>
          </a:prstGeom>
          <a:solidFill>
            <a:srgbClr val="5A6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401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0.643  [0.58, 0.71]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822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46120" y="3822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3822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77840" y="1325880"/>
            <a:ext cx="3108960" cy="3108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vs. Llama 3.2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GPT-4o wins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5760720" y="2926080"/>
            <a:ext cx="2743200" cy="0"/>
          </a:xfrm>
          <a:prstGeom prst="line">
            <a:avLst/>
          </a:prstGeom>
          <a:noFill/>
          <a:ln w="9525">
            <a:solidFill>
              <a:srgbClr val="8FB7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vs. GPT-4o-mini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GPT-4o wins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57607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 wins on a few unlucky samples — see the wide range)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 smaller LLMs underperform?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too many sentences that sound like gaps but don't match the ones we labeled.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71600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371600"/>
            <a:ext cx="3749040" cy="14630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7" name="Shape 4"/>
          <p:cNvSpPr/>
          <p:nvPr/>
        </p:nvSpPr>
        <p:spPr>
          <a:xfrm>
            <a:off x="4937760" y="1371600"/>
            <a:ext cx="73152" cy="146304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false positive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2064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"Further research is needed to replicate these findings."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gap, and matches our cue-phrase filter. But it doesn't match any of the actual gaps we labeled — so it counts as a false positive every time.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37760" y="2971800"/>
            <a:ext cx="3749040" cy="1508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HELPS LLAMA 3.2?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3383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cue-phrase filter →  </a:t>
            </a:r>
            <a:r>
              <a:rPr lang="en-US" sz="14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+0.098 F1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merge in rule output →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 F1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2064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 raises precision. Merging adds nothing because it uses the same phrase list.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Caveats</a:t>
            </a:r>
            <a:endParaRPr lang="en-US" sz="2600" b="1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caveats we need to acknowledge.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0175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double-counts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LLM phrases the same gap three different ways, the score counts it as three separate hits. The cue-phrase method states each gap once. The score therefore favors the briefer method — that's a quirk of how we measure, not a real win.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real gap the LLMs catch (111 vs 110)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1417320"/>
            <a:ext cx="2651760" cy="30175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64408" y="1417320"/>
            <a:ext cx="2651760" cy="64008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47288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journal, one writing style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25146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JBEE authors love cue phrases. In a field where gaps aren't signaled with "further research is needed" — say theoretical economics or finance — the baseline's 0.99 precision will likely drop substantially.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47288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× 1 cue-phrase list — limited generalization claims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71616" y="1417320"/>
            <a:ext cx="2651760" cy="30175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0" name="Shape 18"/>
          <p:cNvSpPr/>
          <p:nvPr/>
        </p:nvSpPr>
        <p:spPr>
          <a:xfrm>
            <a:off x="6071616" y="1417320"/>
            <a:ext cx="265176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54496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team member labeled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54496" y="25146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93 hand-labeled sections and our 20-row implicit-gap check were labeled by one team member. We have no second labeler to cross-check the 70% accuracy figure, so it should be read as approximate.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54496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labeler — adding a second is future 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Implicit Gaps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gaps — the things authors imply but never spell out. Keyword matching can't reach these.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0058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sections processed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651760" cy="10058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9" name="Text 7"/>
          <p:cNvSpPr/>
          <p:nvPr/>
        </p:nvSpPr>
        <p:spPr>
          <a:xfrm>
            <a:off x="3264408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9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64408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LLM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formatting errors)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1616" y="1417320"/>
            <a:ext cx="2651760" cy="10058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2" name="Text 10"/>
          <p:cNvSpPr/>
          <p:nvPr/>
        </p:nvSpPr>
        <p:spPr>
          <a:xfrm>
            <a:off x="6071616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71616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gaps that passed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validation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1691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000" i="1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section on loss aversion (high-confidence output)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by which loss aversion interacts with intertemporal discounting in this sample remains unclear.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 not directly measure intertemporal preferences in this study."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discounting measurement, the interaction can't be tested at the individual level.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5156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How we compare to GAPMAP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method, different set of papers — and the model rankings actually flip.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explicit gaps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4592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25880"/>
            <a:ext cx="3017520" cy="14173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0" y="1325880"/>
            <a:ext cx="73152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COMPARABLE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1691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sections + ROUGE-L scoring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vs. closed comparison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work; open ones useful too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880360"/>
            <a:ext cx="3017520" cy="1554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FLIPPED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32461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GAPMAP's papers, </a:t>
            </a:r>
            <a:r>
              <a:rPr lang="en-US" sz="11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&gt; 4o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(0.81 vs. 0.74).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ours, </a:t>
            </a:r>
            <a:r>
              <a:rPr lang="en-US" sz="11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 &gt; mini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(0.88 vs. 0.70).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papers have more cue phrases, which punishes mini's tendency to generate too many sentences that just sound like gaps.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GAPMAP × Behavioral Economics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Takeaways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920240"/>
          </a:xfrm>
          <a:prstGeom prst="rect">
            <a:avLst/>
          </a:prstGeom>
          <a:solidFill>
            <a:srgbClr val="2D366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6060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explicit gaps?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not. The cue-phrase method scores 0.91 with 99% precision. The LLM only finds one extra real gap — at significant precision cost.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606040" cy="1920240"/>
          </a:xfrm>
          <a:prstGeom prst="rect">
            <a:avLst/>
          </a:prstGeom>
          <a:solidFill>
            <a:srgbClr val="2D3667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965960"/>
            <a:ext cx="2606040" cy="64008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implicit gaps?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Our LLM-based system flagged ~70% real gaps in our hand-checked sample — gaps that no keyword search could find.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06040" cy="1920240"/>
          </a:xfrm>
          <a:prstGeom prst="rect">
            <a:avLst/>
          </a:prstGeom>
          <a:solidFill>
            <a:srgbClr val="2D36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965960"/>
            <a:ext cx="260604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fields with fewer cue phrases (theoretical economics, finance), build a larger labeled set, and combine the two methods more cleverly.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  Questions?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Oumayma  ·  Chau  ·  Elise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LLMs Find Knowledge Gaps in Research Papers?</dc:title>
  <dc:subject>PptxGenJS Presentation</dc:subject>
  <dc:creator>Oumayma Ben Aoun, Chau Tran, Elise DeLeon</dc:creator>
  <cp:lastModifiedBy>Oumayma Ben Aoun, Chau Tran, Elise DeLeon</cp:lastModifiedBy>
  <cp:revision>14</cp:revision>
  <dcterms:created xsi:type="dcterms:W3CDTF">2026-04-26T20:58:36Z</dcterms:created>
  <dcterms:modified xsi:type="dcterms:W3CDTF">2026-04-26T22:52:15Z</dcterms:modified>
</cp:coreProperties>
</file>